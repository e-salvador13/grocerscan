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GrocerScan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23160"/>
            <a:ext cx="2133295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484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600" b="0">
                <a:solidFill>
                  <a:srgbClr val="9999BB"/>
                </a:solidFill>
                <a:latin typeface="Calibri"/>
              </a:defRPr>
            </a:pPr>
            <a:r>
              <a:t>AI-Driven Grocery Receipt Price Comparison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Eduardo Salvador  |  Pragya Kunwar  |  Hellen Nyokusi  |  Srawan Bhatt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9999BB"/>
                </a:solidFill>
                <a:latin typeface="Calibri"/>
              </a:defRPr>
            </a:pPr>
            <a:r>
              <a:t>BUPM-634-M20  |  Initiating the Project  | 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108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$270/week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Average Household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Grocery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25% inflation from 2020-2024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6858000" cy="25603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63093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Prices for identical products vary 15-40% across retailers in the same ZIP 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No efficient tool for item-level cross-store comparison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Existing solutions are fragmented -- individual store apps, coupon aggregators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27AE60"/>
                </a:solidFill>
                <a:latin typeface="Calibri"/>
              </a:defRPr>
            </a:pPr>
            <a:r>
              <a:t>$1,200 - $2,400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Annual overspending per household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9999BB"/>
                </a:solidFill>
                <a:latin typeface="Calibri"/>
              </a:defRPr>
            </a:pPr>
            <a:r>
              <a:t>due to price variation across retailers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92240" y="434340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27AE60"/>
                </a:solidFill>
                <a:latin typeface="Calibri"/>
              </a:defRPr>
            </a:pPr>
            <a:r>
              <a:t>15-40%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Price variance for identical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492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9999BB"/>
                </a:solidFill>
                <a:latin typeface="Calibri"/>
              </a:defRPr>
            </a:pPr>
            <a:r>
              <a:t>across retailers in the same ZIP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Solution -- GrocerScan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9999BB"/>
                </a:solidFill>
                <a:latin typeface="Calibri"/>
              </a:defRPr>
            </a:pPr>
            <a:r>
              <a:t>Upload a receipt. See where you overpaid. Save money.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Receipt</a:t>
            </a:r>
            <a:br/>
            <a:r>
              <a:t>Photo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04288" y="1508760"/>
            <a:ext cx="320040" cy="228600"/>
          </a:xfrm>
          <a:prstGeom prst="rightArrow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23444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OCR Extraction</a:t>
            </a:r>
            <a:br/>
            <a:r>
              <a:t>(Tesseract.js)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98848" y="1508760"/>
            <a:ext cx="320040" cy="228600"/>
          </a:xfrm>
          <a:prstGeom prst="rightArrow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59" y="123444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Fuzzy Matching</a:t>
            </a:r>
            <a:br/>
            <a:r>
              <a:t>(Fuse.js)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93407" y="1508760"/>
            <a:ext cx="320040" cy="228600"/>
          </a:xfrm>
          <a:prstGeom prst="rightArrow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19" y="123444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Price Database</a:t>
            </a:r>
            <a:br/>
            <a:r>
              <a:t>(6 stores)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87967" y="1508760"/>
            <a:ext cx="320040" cy="228600"/>
          </a:xfrm>
          <a:prstGeom prst="rightArrow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123444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Savings</a:t>
            </a:r>
            <a:br/>
            <a: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Three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3566160" cy="457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Savings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999BB"/>
                </a:solidFill>
                <a:latin typeface="Calibri"/>
              </a:defRPr>
            </a:pPr>
            <a:r>
              <a:t>Item-by-item comparison across 6 retailers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743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743200"/>
            <a:ext cx="3566160" cy="45720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8803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4612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999BB"/>
                </a:solidFill>
                <a:latin typeface="Calibri"/>
              </a:defRPr>
            </a:pPr>
            <a:r>
              <a:t>Optimized multi-store shopping plan with route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743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743200"/>
            <a:ext cx="3566160" cy="45720"/>
          </a:xfrm>
          <a:prstGeom prst="rect">
            <a:avLst/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8803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Shopping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4612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999BB"/>
                </a:solidFill>
                <a:latin typeface="Calibri"/>
              </a:defRPr>
            </a:pPr>
            <a:r>
              <a:t>Store-organized checklist with directions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7680960" cy="11887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999BB"/>
                </a:solidFill>
                <a:latin typeface="Calibri"/>
              </a:defRPr>
            </a:pPr>
            <a:r>
              <a:t>Next.js  |  Tesseract.js  |  Claude Vision API  |  Fuse.js  |  Kroger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C83DB"/>
                </a:solidFill>
                <a:latin typeface="Calibri"/>
              </a:defRPr>
            </a:pPr>
            <a:r>
              <a:t>AI Tool: Claude (Anthropic) -- full-stack code generation, architecture design, data pipeline, problem-solving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114800"/>
            <a:ext cx="3017520" cy="1188720"/>
          </a:xfrm>
          <a:prstGeom prst="roundRect">
            <a:avLst>
              <a:gd name="adj" fmla="val 5000"/>
            </a:avLst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686800" y="425196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Total Cost: $0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548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free and open-source tools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33295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28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9999BB"/>
                </a:solidFill>
                <a:latin typeface="Calibri"/>
              </a:defRPr>
            </a:pPr>
            <a:r>
              <a:t>GrocerScan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383280"/>
            <a:ext cx="5790895" cy="25603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474720" y="3520440"/>
            <a:ext cx="52120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9999BB"/>
                </a:solidFill>
                <a:latin typeface="Calibri"/>
              </a:defRPr>
            </a:pPr>
            <a:r>
              <a:t>1.  Upload and analyze a grocery receipt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9999BB"/>
                </a:solidFill>
                <a:latin typeface="Calibri"/>
              </a:defRPr>
            </a:pPr>
            <a:r>
              <a:t>2.  Savings Report -- item-by-item price comparison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9999BB"/>
                </a:solidFill>
                <a:latin typeface="Calibri"/>
              </a:defRPr>
            </a:pPr>
            <a:r>
              <a:t>3.  Smart Split -- optimized multi-store plan with Google Maps route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9999BB"/>
                </a:solidFill>
                <a:latin typeface="Calibri"/>
              </a:defRPr>
            </a:pPr>
            <a:r>
              <a:t>4.  Shopping List -- store-organized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64008" cy="17373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1732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 30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Receipt analysis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64008" cy="17373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$1,200-$2,400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Annual savings per household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64008" cy="1737360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1732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85%+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OCR extraction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64008" cy="1737360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4290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2062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Fuzzy matching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0040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200400"/>
            <a:ext cx="64008" cy="1737360"/>
          </a:xfrm>
          <a:prstGeom prst="rect">
            <a:avLst/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4290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 retailers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062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Price comparison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0040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200400"/>
            <a:ext cx="64008" cy="17373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All free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Privacy-first: OCR runs in-browser. Receipt images never leave the device.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Charter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20440" cy="49377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520440" cy="457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5468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Functional prototype with 85%+ OCR accuracy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Price database across 6 retailers with verified sources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Three user-facing outputs from single receipt upload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80%+ fuzzy matching accuracy on receipt abbreviations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520440" cy="49377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520440" cy="45720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2588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C83DB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15468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IN SCOPE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Receipt upload, OCR pipeline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Price comparison, 3 outputs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Web app, documentation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300" b="1">
                <a:solidFill>
                  <a:srgbClr val="C0392B"/>
                </a:solidFill>
                <a:latin typeface="Calibri"/>
              </a:defRPr>
            </a:pPr>
            <a:r>
              <a:t>OUT OF SCOPE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9999BB"/>
                </a:solidFill>
                <a:latin typeface="Calibri"/>
              </a:defRPr>
            </a:pPr>
            <a:r>
              <a:t>  Real-time APIs for all stores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9999BB"/>
                </a:solidFill>
                <a:latin typeface="Calibri"/>
              </a:defRPr>
            </a:pPr>
            <a:r>
              <a:t>  User accounts, mobile app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9999BB"/>
                </a:solidFill>
                <a:latin typeface="Calibri"/>
              </a:defRPr>
            </a:pPr>
            <a:r>
              <a:t>  Geographic localization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20440" cy="49377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20440" cy="45720"/>
          </a:xfrm>
          <a:prstGeom prst="rect">
            <a:avLst/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2588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5DAEF0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15468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Functional web application with 3 sample receipts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OCR pipeline, matching engine, price database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Charter, written report, presentation and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8288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Day 1</a:t>
            </a:r>
            <a:br/>
            <a:r>
              <a:t>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Day 1</a:t>
            </a:r>
            <a:br/>
            <a:r>
              <a:t>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Day 1</a:t>
            </a:r>
            <a:br/>
            <a:r>
              <a:t>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79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Day 2</a:t>
            </a:r>
            <a:br/>
            <a:r>
              <a:t>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Day 2</a:t>
            </a:r>
            <a:br/>
            <a:r>
              <a:t>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Day 2</a:t>
            </a:r>
            <a:br/>
            <a:r>
              <a:t>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868680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999BB"/>
                </a:solidFill>
                <a:latin typeface="Calibri"/>
              </a:defRPr>
            </a:pPr>
            <a:r>
              <a:t>Sunday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66959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47119" y="1280160"/>
            <a:ext cx="4572" cy="307238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325880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Project Initiation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1380744"/>
            <a:ext cx="1188719" cy="274320"/>
          </a:xfrm>
          <a:prstGeom prst="roundRect">
            <a:avLst>
              <a:gd name="adj" fmla="val 15000"/>
            </a:avLst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709928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Data Sourcing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764792"/>
            <a:ext cx="2468879" cy="274320"/>
          </a:xfrm>
          <a:prstGeom prst="roundRect">
            <a:avLst>
              <a:gd name="adj" fmla="val 15000"/>
            </a:avLst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093976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OCR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79" y="2148840"/>
            <a:ext cx="2468879" cy="274320"/>
          </a:xfrm>
          <a:prstGeom prst="roundRect">
            <a:avLst>
              <a:gd name="adj" fmla="val 15000"/>
            </a:avLst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478024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Matching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2532888"/>
            <a:ext cx="2468879" cy="274320"/>
          </a:xfrm>
          <a:prstGeom prst="roundRect">
            <a:avLst>
              <a:gd name="adj" fmla="val 15000"/>
            </a:avLst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862072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Web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2916936"/>
            <a:ext cx="3749039" cy="274320"/>
          </a:xfrm>
          <a:prstGeom prst="roundRect">
            <a:avLst>
              <a:gd name="adj" fmla="val 15000"/>
            </a:avLst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246120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Integration Testing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199" y="3300984"/>
            <a:ext cx="2468879" cy="274320"/>
          </a:xfrm>
          <a:prstGeom prst="roundRect">
            <a:avLst>
              <a:gd name="adj" fmla="val 15000"/>
            </a:avLst>
          </a:prstGeom>
          <a:solidFill>
            <a:srgbClr val="D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630168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3685031"/>
            <a:ext cx="2468879" cy="274320"/>
          </a:xfrm>
          <a:prstGeom prst="roundRect">
            <a:avLst>
              <a:gd name="adj" fmla="val 15000"/>
            </a:avLst>
          </a:prstGeom>
          <a:solidFill>
            <a:srgbClr val="D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014215"/>
            <a:ext cx="1645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4069079"/>
            <a:ext cx="2468879" cy="2743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4535424"/>
            <a:ext cx="182880" cy="137160"/>
          </a:xfrm>
          <a:prstGeom prst="rect">
            <a:avLst/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450799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999BB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4535424"/>
            <a:ext cx="182880" cy="1371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450799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999B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535424"/>
            <a:ext cx="182880" cy="137160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50799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999BB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4535424"/>
            <a:ext cx="182880" cy="137160"/>
          </a:xfrm>
          <a:prstGeom prst="rect">
            <a:avLst/>
          </a:prstGeom>
          <a:solidFill>
            <a:srgbClr val="D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50799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999BB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4535424"/>
            <a:ext cx="182880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450799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999BB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Scaling 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800600"/>
            <a:ext cx="13716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4937759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822960" y="502920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Deploy on Vercel (free tier) for immediate public access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Pursue retailer API partnerships for real-time pricing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Expand product catalog from demo set to full SKU coverage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Risks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52044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Walmart blocks automated scraping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999BB"/>
                </a:solidFill>
                <a:latin typeface="Calibri"/>
              </a:defRPr>
            </a:pPr>
            <a:r>
              <a:t>Pivoted to NPR price surveys, BLS CPI data, published pricing guides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52044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OCR accuracy on faded/damaged receipts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999BB"/>
                </a:solidFill>
                <a:latin typeface="Calibri"/>
              </a:defRPr>
            </a:pPr>
            <a:r>
              <a:t>Image preprocessing (adaptive thresholding) + Claude Vision API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52044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Receipt abbreviation matching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999BB"/>
                </a:solidFill>
                <a:latin typeface="Calibri"/>
              </a:defRPr>
            </a:pPr>
            <a:r>
              <a:t>Built 150+ item abbreviation lookup table + tuned fuzzy matching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Known Limitations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11064240" cy="45720"/>
          </a:xfrm>
          <a:prstGeom prst="rect">
            <a:avLst/>
          </a:prstGeom>
          <a:solidFill>
            <a:srgbClr val="D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999BB"/>
                </a:solidFill>
                <a:latin typeface="Calibri"/>
              </a:defRPr>
            </a:pPr>
            <a:r>
              <a:t>  Static price database (not real-time) -- prices are point-in-time snapshots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9999BB"/>
                </a:solidFill>
                <a:latin typeface="Calibri"/>
              </a:defRPr>
            </a:pPr>
            <a:r>
              <a:t>  Geographic variation not modeled beyond demo dataset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9999BB"/>
                </a:solidFill>
                <a:latin typeface="Calibri"/>
              </a:defRPr>
            </a:pPr>
            <a:r>
              <a:t>  Coupons and loyalty discounts not factored 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64008" cy="146304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424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GrocerScan validates that AI-powered receipt scanning and cross-retailer price comparison is technically feasible, delivers measurable consumer value, and can be built at zero cost using free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27AE60"/>
                </a:solidFill>
                <a:latin typeface="Calibri"/>
              </a:defRPr>
            </a:pPr>
            <a:r>
              <a:t>Recommendation: Proceed to Phase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64008" cy="10972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65760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Secure retailer API partnerships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690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999BB"/>
                </a:solidFill>
                <a:latin typeface="Calibri"/>
              </a:defRPr>
            </a:pPr>
            <a:r>
              <a:t>for real-time pricing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52044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64008" cy="1097280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365760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Launch geographic price localization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0690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999BB"/>
                </a:solidFill>
                <a:latin typeface="Calibri"/>
              </a:defRPr>
            </a:pPr>
            <a:r>
              <a:t>ZIP code-level price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64008" cy="1097280"/>
          </a:xfrm>
          <a:prstGeom prst="rect">
            <a:avLst/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983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Pursue freemium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394959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999BB"/>
                </a:solidFill>
                <a:latin typeface="Calibri"/>
              </a:defRPr>
            </a:pPr>
            <a:r>
              <a:t>Free basic scans, $4.99/month premium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4632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263640" y="4846320"/>
            <a:ext cx="64008" cy="10972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983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Target: 50K premium subscribers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5394959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999BB"/>
                </a:solidFill>
                <a:latin typeface="Calibri"/>
              </a:defRPr>
            </a:pPr>
            <a:r>
              <a:t>= $3M ARR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33295" cy="36576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Eduardo Salvador  |  Pragya Kunwar  |  Hellen Nyokusi  |  Srawan Bhatt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9999B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BUPM-634-M20  | 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5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